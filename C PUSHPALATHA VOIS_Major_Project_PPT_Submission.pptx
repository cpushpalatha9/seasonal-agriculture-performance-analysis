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7" r:id="rId12"/>
    <p:sldId id="348" r:id="rId13"/>
    <p:sldId id="349" r:id="rId14"/>
    <p:sldId id="346"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47" d="100"/>
          <a:sy n="47" d="100"/>
        </p:scale>
        <p:origin x="53" y="82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cpushpalatha9/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47767" y="3588198"/>
            <a:ext cx="5823857" cy="861497"/>
          </a:xfrm>
        </p:spPr>
        <p:txBody>
          <a:bodyPr vert="horz" lIns="91440" tIns="45720" rIns="91440" bIns="45720" rtlCol="0" anchor="t">
            <a:normAutofit fontScale="92500"/>
          </a:bodyPr>
          <a:lstStyle/>
          <a:p>
            <a:pPr algn="r"/>
            <a:r>
              <a:rPr lang="en-US" b="0" dirty="0">
                <a:solidFill>
                  <a:schemeClr val="tx1"/>
                </a:solidFill>
              </a:rPr>
              <a:t>C PUSHPALATHA</a:t>
            </a:r>
          </a:p>
          <a:p>
            <a:pPr algn="r"/>
            <a:r>
              <a:rPr lang="en-US" b="0" dirty="0">
                <a:solidFill>
                  <a:schemeClr val="tx1"/>
                </a:solidFill>
              </a:rPr>
              <a:t>Justice Basheer Ahmed Sayeed College for Women</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7322637" cy="743448"/>
          </a:xfrm>
        </p:spPr>
        <p:txBody>
          <a:bodyPr>
            <a:normAutofit fontScale="90000"/>
          </a:bodyPr>
          <a:lstStyle/>
          <a:p>
            <a:r>
              <a:rPr lang="en-GB" sz="3200" dirty="0"/>
              <a:t>Seasonal Agriculture Performance 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6178181" cy="369332"/>
          </a:xfrm>
          <a:prstGeom prst="rect">
            <a:avLst/>
          </a:prstGeom>
          <a:noFill/>
        </p:spPr>
        <p:txBody>
          <a:bodyPr wrap="square" rtlCol="0">
            <a:spAutoFit/>
          </a:bodyPr>
          <a:lstStyle/>
          <a:p>
            <a:r>
              <a:rPr lang="en-US" b="1" dirty="0"/>
              <a:t>AICTE STU ID : </a:t>
            </a:r>
            <a:r>
              <a:rPr lang="en-US" dirty="0"/>
              <a:t>STU696132c929d891767977673</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555171"/>
            <a:ext cx="6276109" cy="702129"/>
          </a:xfrm>
        </p:spPr>
        <p:txBody>
          <a:bodyPr>
            <a:normAutofit fontScale="90000"/>
          </a:bodyPr>
          <a:lstStyle/>
          <a:p>
            <a:r>
              <a:rPr lang="en-GB" dirty="0"/>
              <a:t>Project Description</a:t>
            </a:r>
            <a:br>
              <a:rPr lang="en-GB" dirty="0"/>
            </a:br>
            <a:r>
              <a:rPr lang="en-US" sz="2200" b="0" dirty="0">
                <a:solidFill>
                  <a:schemeClr val="tx2">
                    <a:lumMod val="60000"/>
                    <a:lumOff val="40000"/>
                  </a:schemeClr>
                </a:solidFill>
              </a:rPr>
              <a:t>Seasonal Agriculture Performance Analysis is a data analytics project focused on understanding how agricultural performance varies across different seasons, regions, crops, environmental conditions, farming practices, resource usage, and economic factors. The project involves data loading, data cleaning, exploratory data analysis, statistical analysis, KPI evaluation, visualization, and interpretation of agricultural data. The analysis compares seasonal performance, crop productivity, resource usage, environmental conditions, and economic outcomes to identify meaningful patterns and relationships. The objective is to generate evidence-based insights and data-driven recommendations that can support better seasonal agricultural planning and resource management.</a:t>
            </a:r>
            <a:br>
              <a:rPr lang="en-US" sz="2200" b="0"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501149" y="6431281"/>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320401" y="643128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25000" lnSpcReduction="20000"/>
          </a:bodyPr>
          <a:lstStyle/>
          <a:p>
            <a:pPr lvl="0">
              <a:buClr>
                <a:srgbClr val="2E946B"/>
              </a:buClr>
            </a:pPr>
            <a:r>
              <a:rPr lang="en-IN" sz="8000" b="1" dirty="0">
                <a:solidFill>
                  <a:srgbClr val="2C3C43">
                    <a:lumMod val="60000"/>
                    <a:lumOff val="40000"/>
                  </a:srgbClr>
                </a:solidFill>
              </a:rPr>
              <a:t>Farmers</a:t>
            </a:r>
            <a:r>
              <a:rPr lang="en-IN" sz="8000" dirty="0">
                <a:solidFill>
                  <a:srgbClr val="2C3C43">
                    <a:lumMod val="60000"/>
                    <a:lumOff val="40000"/>
                  </a:srgbClr>
                </a:solidFill>
              </a:rPr>
              <a:t> – to understand which seasons, crops, and farming conditions give better performance.</a:t>
            </a:r>
          </a:p>
          <a:p>
            <a:pPr lvl="0">
              <a:buClr>
                <a:srgbClr val="2E946B"/>
              </a:buClr>
            </a:pPr>
            <a:r>
              <a:rPr lang="en-IN" sz="8000" b="1" dirty="0">
                <a:solidFill>
                  <a:srgbClr val="2C3C43">
                    <a:lumMod val="60000"/>
                    <a:lumOff val="40000"/>
                  </a:srgbClr>
                </a:solidFill>
              </a:rPr>
              <a:t>Agricultural Planners &amp; Departments</a:t>
            </a:r>
            <a:r>
              <a:rPr lang="en-IN" sz="8000" dirty="0">
                <a:solidFill>
                  <a:srgbClr val="2C3C43">
                    <a:lumMod val="60000"/>
                    <a:lumOff val="40000"/>
                  </a:srgbClr>
                </a:solidFill>
              </a:rPr>
              <a:t> – to support seasonal agricultural planning and resource allocation.</a:t>
            </a:r>
          </a:p>
          <a:p>
            <a:pPr lvl="0">
              <a:buClr>
                <a:srgbClr val="2E946B"/>
              </a:buClr>
            </a:pPr>
            <a:r>
              <a:rPr lang="en-IN" sz="8000" b="1" dirty="0">
                <a:solidFill>
                  <a:srgbClr val="2C3C43">
                    <a:lumMod val="60000"/>
                    <a:lumOff val="40000"/>
                  </a:srgbClr>
                </a:solidFill>
              </a:rPr>
              <a:t>Agricultural Researchers</a:t>
            </a:r>
            <a:r>
              <a:rPr lang="en-IN" sz="8000" dirty="0">
                <a:solidFill>
                  <a:srgbClr val="2C3C43">
                    <a:lumMod val="60000"/>
                    <a:lumOff val="40000"/>
                  </a:srgbClr>
                </a:solidFill>
              </a:rPr>
              <a:t> – to study seasonal patterns, crop performance, and environmental relationships.</a:t>
            </a:r>
          </a:p>
          <a:p>
            <a:pPr lvl="0">
              <a:buClr>
                <a:srgbClr val="2E946B"/>
              </a:buClr>
            </a:pPr>
            <a:r>
              <a:rPr lang="en-IN" sz="8000" b="1" dirty="0">
                <a:solidFill>
                  <a:srgbClr val="2C3C43">
                    <a:lumMod val="60000"/>
                    <a:lumOff val="40000"/>
                  </a:srgbClr>
                </a:solidFill>
              </a:rPr>
              <a:t>Agribusinesses &amp; </a:t>
            </a:r>
            <a:r>
              <a:rPr lang="en-IN" sz="8000" b="1" dirty="0" err="1">
                <a:solidFill>
                  <a:srgbClr val="2C3C43">
                    <a:lumMod val="60000"/>
                    <a:lumOff val="40000"/>
                  </a:srgbClr>
                </a:solidFill>
              </a:rPr>
              <a:t>Agritech</a:t>
            </a:r>
            <a:r>
              <a:rPr lang="en-IN" sz="8000" b="1" dirty="0">
                <a:solidFill>
                  <a:srgbClr val="2C3C43">
                    <a:lumMod val="60000"/>
                    <a:lumOff val="40000"/>
                  </a:srgbClr>
                </a:solidFill>
              </a:rPr>
              <a:t> Companies</a:t>
            </a:r>
            <a:r>
              <a:rPr lang="en-IN" sz="8000" dirty="0">
                <a:solidFill>
                  <a:srgbClr val="2C3C43">
                    <a:lumMod val="60000"/>
                    <a:lumOff val="40000"/>
                  </a:srgbClr>
                </a:solidFill>
              </a:rPr>
              <a:t> – to understand crop production, resource usage, and profitability patterns.</a:t>
            </a:r>
          </a:p>
          <a:p>
            <a:pPr lvl="0">
              <a:buClr>
                <a:srgbClr val="2E946B"/>
              </a:buClr>
            </a:pPr>
            <a:r>
              <a:rPr lang="en-IN" sz="8000" b="1" dirty="0">
                <a:solidFill>
                  <a:srgbClr val="2C3C43">
                    <a:lumMod val="60000"/>
                    <a:lumOff val="40000"/>
                  </a:srgbClr>
                </a:solidFill>
              </a:rPr>
              <a:t>Government &amp; Policy Makers</a:t>
            </a:r>
            <a:r>
              <a:rPr lang="en-IN" sz="8000" dirty="0">
                <a:solidFill>
                  <a:srgbClr val="2C3C43">
                    <a:lumMod val="60000"/>
                    <a:lumOff val="40000"/>
                  </a:srgbClr>
                </a:solidFill>
              </a:rPr>
              <a:t> – to support evidence-based agricultural policies and programs.</a:t>
            </a:r>
          </a:p>
          <a:p>
            <a:pPr lvl="0">
              <a:buClr>
                <a:srgbClr val="2E946B"/>
              </a:buClr>
            </a:pPr>
            <a:r>
              <a:rPr lang="en-IN" sz="8000" b="1" dirty="0">
                <a:solidFill>
                  <a:srgbClr val="2C3C43">
                    <a:lumMod val="60000"/>
                    <a:lumOff val="40000"/>
                  </a:srgbClr>
                </a:solidFill>
              </a:rPr>
              <a:t>Agricultural Consultants</a:t>
            </a:r>
            <a:r>
              <a:rPr lang="en-IN" sz="8000" dirty="0">
                <a:solidFill>
                  <a:srgbClr val="2C3C43">
                    <a:lumMod val="60000"/>
                    <a:lumOff val="40000"/>
                  </a:srgbClr>
                </a:solidFill>
              </a:rPr>
              <a:t> – to provide data-driven recommendations to farmers and agricultural organizations.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26770" y="1432560"/>
            <a:ext cx="8131630" cy="5243448"/>
          </a:xfrm>
        </p:spPr>
        <p:txBody>
          <a:bodyPr/>
          <a:lstStyle/>
          <a:p>
            <a:pPr>
              <a:buNone/>
            </a:pPr>
            <a:r>
              <a:rPr lang="en-IN" b="1" dirty="0">
                <a:solidFill>
                  <a:schemeClr val="tx2">
                    <a:lumMod val="60000"/>
                    <a:lumOff val="40000"/>
                  </a:schemeClr>
                </a:solidFill>
              </a:rPr>
              <a:t>Python – Data cleaning, preprocessing, analysis, and visualization</a:t>
            </a:r>
          </a:p>
          <a:p>
            <a:pPr>
              <a:buNone/>
            </a:pPr>
            <a:r>
              <a:rPr lang="en-IN" b="1" dirty="0">
                <a:solidFill>
                  <a:schemeClr val="tx2">
                    <a:lumMod val="60000"/>
                    <a:lumOff val="40000"/>
                  </a:schemeClr>
                </a:solidFill>
              </a:rPr>
              <a:t>Pandas &amp; NumPy – Data manipulation and numerical analysis</a:t>
            </a:r>
          </a:p>
          <a:p>
            <a:pPr>
              <a:buNone/>
            </a:pPr>
            <a:r>
              <a:rPr lang="en-IN" b="1" dirty="0">
                <a:solidFill>
                  <a:schemeClr val="tx2">
                    <a:lumMod val="60000"/>
                    <a:lumOff val="40000"/>
                  </a:schemeClr>
                </a:solidFill>
              </a:rPr>
              <a:t>Matplotlib &amp; Seaborn – Exploratory data analysis and visualization</a:t>
            </a:r>
          </a:p>
          <a:p>
            <a:pPr>
              <a:buNone/>
            </a:pPr>
            <a:r>
              <a:rPr lang="en-IN" b="1" dirty="0">
                <a:solidFill>
                  <a:schemeClr val="tx2">
                    <a:lumMod val="60000"/>
                    <a:lumOff val="40000"/>
                  </a:schemeClr>
                </a:solidFill>
              </a:rPr>
              <a:t>Jupyter Notebook – Analysis documentation and execution</a:t>
            </a:r>
          </a:p>
          <a:p>
            <a:pPr>
              <a:buNone/>
            </a:pPr>
            <a:r>
              <a:rPr lang="en-IN" b="1" dirty="0">
                <a:solidFill>
                  <a:schemeClr val="tx2">
                    <a:lumMod val="60000"/>
                    <a:lumOff val="40000"/>
                  </a:schemeClr>
                </a:solidFill>
              </a:rPr>
              <a:t>SciPy – Statistical analysis and ANOVA</a:t>
            </a:r>
          </a:p>
          <a:p>
            <a:pPr>
              <a:buNone/>
            </a:pPr>
            <a:r>
              <a:rPr lang="en-IN" b="1" dirty="0">
                <a:solidFill>
                  <a:schemeClr val="tx2">
                    <a:lumMod val="60000"/>
                    <a:lumOff val="40000"/>
                  </a:schemeClr>
                </a:solidFill>
              </a:rPr>
              <a:t>CSV – Dataset and data storage format</a:t>
            </a:r>
          </a:p>
          <a:p>
            <a:pPr>
              <a:buNone/>
            </a:pPr>
            <a:r>
              <a:rPr lang="en-IN" b="1" dirty="0">
                <a:solidFill>
                  <a:schemeClr val="tx2">
                    <a:lumMod val="60000"/>
                    <a:lumOff val="40000"/>
                  </a:schemeClr>
                </a:solidFill>
              </a:rPr>
              <a:t>GitHub – Project documentation and version control</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D2D1C36F-F29C-94A9-7B74-E24C5386CFE4}"/>
              </a:ext>
            </a:extLst>
          </p:cNvPr>
          <p:cNvSpPr txBox="1"/>
          <p:nvPr/>
        </p:nvSpPr>
        <p:spPr>
          <a:xfrm>
            <a:off x="675957" y="1859340"/>
            <a:ext cx="8484370" cy="3477875"/>
          </a:xfrm>
          <a:prstGeom prst="rect">
            <a:avLst/>
          </a:prstGeom>
          <a:noFill/>
        </p:spPr>
        <p:txBody>
          <a:bodyPr wrap="square">
            <a:spAutoFit/>
          </a:bodyPr>
          <a:lstStyle/>
          <a:p>
            <a:pPr>
              <a:buNone/>
            </a:pPr>
            <a:r>
              <a:rPr lang="en-IN" sz="2000" dirty="0"/>
              <a:t>Dataset Overview</a:t>
            </a:r>
          </a:p>
          <a:p>
            <a:pPr>
              <a:buNone/>
            </a:pPr>
            <a:r>
              <a:rPr lang="en-IN" sz="2000" dirty="0"/>
              <a:t>• Total Records: 4,000</a:t>
            </a:r>
            <a:br>
              <a:rPr lang="en-IN" sz="2000" dirty="0"/>
            </a:br>
            <a:r>
              <a:rPr lang="en-IN" sz="2000" dirty="0"/>
              <a:t>• Variables: 28</a:t>
            </a:r>
            <a:br>
              <a:rPr lang="en-IN" sz="2000" dirty="0"/>
            </a:br>
            <a:r>
              <a:rPr lang="en-IN" sz="2000" dirty="0"/>
              <a:t>• States: 8</a:t>
            </a:r>
            <a:br>
              <a:rPr lang="en-IN" sz="2000" dirty="0"/>
            </a:br>
            <a:r>
              <a:rPr lang="en-IN" sz="2000" dirty="0"/>
              <a:t>• Districts: 10</a:t>
            </a:r>
            <a:br>
              <a:rPr lang="en-IN" sz="2000" dirty="0"/>
            </a:br>
            <a:r>
              <a:rPr lang="en-IN" sz="2000" dirty="0"/>
              <a:t>• Crops: 8</a:t>
            </a:r>
            <a:br>
              <a:rPr lang="en-IN" sz="2000" dirty="0"/>
            </a:br>
            <a:r>
              <a:rPr lang="en-IN" sz="2000" dirty="0"/>
              <a:t>• Seasons: 3</a:t>
            </a:r>
            <a:br>
              <a:rPr lang="en-IN" sz="2000" dirty="0"/>
            </a:br>
            <a:r>
              <a:rPr lang="en-IN" sz="2000" dirty="0"/>
              <a:t>• Average Yield: 5.27 tonnes/ha</a:t>
            </a:r>
            <a:br>
              <a:rPr lang="en-IN" sz="2000" dirty="0"/>
            </a:br>
            <a:r>
              <a:rPr lang="en-IN" sz="2000" dirty="0"/>
              <a:t>• Total Production: 172,984.84 tonnes</a:t>
            </a:r>
            <a:br>
              <a:rPr lang="en-IN" sz="2000" dirty="0"/>
            </a:br>
            <a:r>
              <a:rPr lang="en-IN" sz="2000" dirty="0"/>
              <a:t>• Total Revenue: ₹2,551,440,192</a:t>
            </a:r>
            <a:br>
              <a:rPr lang="en-IN" sz="2000" dirty="0"/>
            </a:br>
            <a:r>
              <a:rPr lang="en-IN" sz="2000" dirty="0"/>
              <a:t>• Total Profit: ₹446,225,860</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Rectangle 8">
            <a:extLst>
              <a:ext uri="{FF2B5EF4-FFF2-40B4-BE49-F238E27FC236}">
                <a16:creationId xmlns:a16="http://schemas.microsoft.com/office/drawing/2014/main" id="{801A21F6-C005-4CDD-449D-8134DA85DF7F}"/>
              </a:ext>
            </a:extLst>
          </p:cNvPr>
          <p:cNvSpPr/>
          <p:nvPr/>
        </p:nvSpPr>
        <p:spPr>
          <a:xfrm>
            <a:off x="320982" y="1275371"/>
            <a:ext cx="5459332" cy="5212040"/>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470549F1-C0D5-6E6C-6712-E87ABF779352}"/>
              </a:ext>
            </a:extLst>
          </p:cNvPr>
          <p:cNvSpPr/>
          <p:nvPr/>
        </p:nvSpPr>
        <p:spPr>
          <a:xfrm>
            <a:off x="6096000" y="1275371"/>
            <a:ext cx="5459332" cy="5196549"/>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B027E-645B-99B4-E93B-E919442F6BC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E54BC33-A86F-2179-5A7D-A56E8847891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E74AF38-393C-0C81-1E63-79E9D65801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9B272CD-1D46-3528-3737-BB99CF03DED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08D2B9C-C9C7-E587-7ADA-A53F4D19FB8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Rectangle 8">
            <a:extLst>
              <a:ext uri="{FF2B5EF4-FFF2-40B4-BE49-F238E27FC236}">
                <a16:creationId xmlns:a16="http://schemas.microsoft.com/office/drawing/2014/main" id="{BF32CEEB-BBA5-9429-E369-0C7BEB4340F5}"/>
              </a:ext>
            </a:extLst>
          </p:cNvPr>
          <p:cNvSpPr/>
          <p:nvPr/>
        </p:nvSpPr>
        <p:spPr>
          <a:xfrm>
            <a:off x="320982" y="1275371"/>
            <a:ext cx="5459332" cy="5212040"/>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8E017DE4-2817-5115-154C-6134F92246CA}"/>
              </a:ext>
            </a:extLst>
          </p:cNvPr>
          <p:cNvSpPr/>
          <p:nvPr/>
        </p:nvSpPr>
        <p:spPr>
          <a:xfrm>
            <a:off x="6096000" y="1275371"/>
            <a:ext cx="5459332" cy="5196549"/>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57384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E5A5A-97D4-1571-F2C0-56174A8FBDF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393DC0-DD9C-7698-D8FC-768962C25ED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FE2BACA-374A-3A2D-97D0-FE9EDD850DE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09F93F6-0CC4-6A3E-1AAC-676BC90228B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4DBB57A-6F94-888C-44E3-0A2788DB61E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Rectangle 8">
            <a:extLst>
              <a:ext uri="{FF2B5EF4-FFF2-40B4-BE49-F238E27FC236}">
                <a16:creationId xmlns:a16="http://schemas.microsoft.com/office/drawing/2014/main" id="{A90E8234-F8F3-5735-B761-F971CC65339C}"/>
              </a:ext>
            </a:extLst>
          </p:cNvPr>
          <p:cNvSpPr/>
          <p:nvPr/>
        </p:nvSpPr>
        <p:spPr>
          <a:xfrm>
            <a:off x="320982" y="1275371"/>
            <a:ext cx="5459332" cy="5212040"/>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D5886A90-8E1B-BC15-84C2-6B5B1EB89D4D}"/>
              </a:ext>
            </a:extLst>
          </p:cNvPr>
          <p:cNvSpPr/>
          <p:nvPr/>
        </p:nvSpPr>
        <p:spPr>
          <a:xfrm>
            <a:off x="6096000" y="1275371"/>
            <a:ext cx="5459332" cy="5196549"/>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726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BDE9E-DC96-F3F6-0FFD-B100EF8FF1D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D87B555-E668-B747-9BF2-46C6F400D77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A35C89A-3EF2-1770-105B-E0CEAE4D806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70313F3-C737-1EA2-EC90-83AFE2350DD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7CA86B8-7812-8444-A2BC-5B59623BC08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Rectangle 8">
            <a:extLst>
              <a:ext uri="{FF2B5EF4-FFF2-40B4-BE49-F238E27FC236}">
                <a16:creationId xmlns:a16="http://schemas.microsoft.com/office/drawing/2014/main" id="{06FE20CD-1CE4-A815-2884-605CDFB19D98}"/>
              </a:ext>
            </a:extLst>
          </p:cNvPr>
          <p:cNvSpPr/>
          <p:nvPr/>
        </p:nvSpPr>
        <p:spPr>
          <a:xfrm>
            <a:off x="320982" y="1275371"/>
            <a:ext cx="5459332" cy="5212040"/>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0B1947B4-B96F-64D6-2F9E-8FB1A5B38002}"/>
              </a:ext>
            </a:extLst>
          </p:cNvPr>
          <p:cNvSpPr/>
          <p:nvPr/>
        </p:nvSpPr>
        <p:spPr>
          <a:xfrm>
            <a:off x="6096000" y="1275371"/>
            <a:ext cx="5459332" cy="5196549"/>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25946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5">
            <a:extLst>
              <a:ext uri="{FF2B5EF4-FFF2-40B4-BE49-F238E27FC236}">
                <a16:creationId xmlns:a16="http://schemas.microsoft.com/office/drawing/2014/main" id="{8402B980-E495-C3E0-E841-51E341727767}"/>
              </a:ext>
            </a:extLst>
          </p:cNvPr>
          <p:cNvSpPr/>
          <p:nvPr/>
        </p:nvSpPr>
        <p:spPr>
          <a:xfrm>
            <a:off x="320982" y="1275371"/>
            <a:ext cx="5361361" cy="233324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0500C8B8-F74E-DB9C-0EA7-F1554ED6FC02}"/>
              </a:ext>
            </a:extLst>
          </p:cNvPr>
          <p:cNvSpPr/>
          <p:nvPr/>
        </p:nvSpPr>
        <p:spPr>
          <a:xfrm>
            <a:off x="6096000" y="1275371"/>
            <a:ext cx="5382986" cy="2333243"/>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CCF65523-0FA6-0B04-D780-653D1C353B78}"/>
              </a:ext>
            </a:extLst>
          </p:cNvPr>
          <p:cNvSpPr/>
          <p:nvPr/>
        </p:nvSpPr>
        <p:spPr>
          <a:xfrm>
            <a:off x="320982" y="3869871"/>
            <a:ext cx="5361361" cy="2333243"/>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93D40384-7C35-4B3D-A0FB-144F5F31D2D8}"/>
              </a:ext>
            </a:extLst>
          </p:cNvPr>
          <p:cNvSpPr/>
          <p:nvPr/>
        </p:nvSpPr>
        <p:spPr>
          <a:xfrm>
            <a:off x="6096000" y="3869871"/>
            <a:ext cx="5361361" cy="2333243"/>
          </a:xfrm>
          <a:prstGeom prst="rect">
            <a:avLst/>
          </a:prstGeom>
          <a:blipFill dpi="0" rotWithShape="1">
            <a:blip r:embed="rId6">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41895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C3FDA270-EC25-25D4-6478-40258620F6BE}"/>
              </a:ext>
            </a:extLst>
          </p:cNvPr>
          <p:cNvSpPr txBox="1"/>
          <p:nvPr/>
        </p:nvSpPr>
        <p:spPr>
          <a:xfrm>
            <a:off x="1110344" y="1632857"/>
            <a:ext cx="5437414" cy="34778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Predict crop yield</a:t>
            </a: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 using Machine Learning.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Recommend the best crop</a:t>
            </a: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 for each season and region.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Add </a:t>
            </a:r>
            <a:r>
              <a:rPr kumimoji="0" lang="en-IN" sz="2000" b="1"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real-time weather data</a:t>
            </a: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Analyze </a:t>
            </a:r>
            <a:r>
              <a:rPr kumimoji="0" lang="en-IN" sz="2000" b="1"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market prices</a:t>
            </a: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 and suggest profitable crops.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Help farmers </a:t>
            </a:r>
            <a:r>
              <a:rPr kumimoji="0" lang="en-IN" sz="2000" b="1"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save water and reduce costs</a:t>
            </a: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Create a </a:t>
            </a:r>
            <a:r>
              <a:rPr kumimoji="0" lang="en-IN" sz="2000" b="1"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mobile/web application</a:t>
            </a: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 for farmers.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Add </a:t>
            </a:r>
            <a:r>
              <a:rPr kumimoji="0" lang="en-IN" sz="2000" b="1"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AI-based recommendations</a:t>
            </a: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 for better farming decisions. </a:t>
            </a:r>
            <a:endParaRPr kumimoji="0" lang="en-IN" sz="2000" b="0" i="0" u="none" strike="noStrike" kern="1200" cap="none" spc="0" normalizeH="0" baseline="0" noProof="0" dirty="0">
              <a:ln>
                <a:noFill/>
              </a:ln>
              <a:solidFill>
                <a:srgbClr val="2C3C43">
                  <a:lumMod val="60000"/>
                  <a:lumOff val="40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68305" y="1459695"/>
            <a:ext cx="8932895" cy="369332"/>
          </a:xfrm>
          <a:prstGeom prst="rect">
            <a:avLst/>
          </a:prstGeom>
          <a:noFill/>
        </p:spPr>
        <p:txBody>
          <a:bodyPr wrap="square">
            <a:spAutoFit/>
          </a:bodyPr>
          <a:lstStyle/>
          <a:p>
            <a:r>
              <a:rPr lang="en-US" b="1" dirty="0">
                <a:hlinkClick r:id="rId3">
                  <a:extLst>
                    <a:ext uri="{A12FA001-AC4F-418D-AE19-62706E023703}">
                      <ahyp:hlinkClr xmlns:ahyp="http://schemas.microsoft.com/office/drawing/2018/hyperlinkcolor" val="tx"/>
                    </a:ext>
                  </a:extLst>
                </a:hlinkClick>
              </a:rPr>
              <a:t>https://github.com/cpushpalatha9/Seasonal-Agriculture-Performance-Analysis</a:t>
            </a:r>
            <a:endParaRPr lang="en-US" b="1"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a:extLst>
              <a:ext uri="{FF2B5EF4-FFF2-40B4-BE49-F238E27FC236}">
                <a16:creationId xmlns:a16="http://schemas.microsoft.com/office/drawing/2014/main" id="{1A30B01B-EDAC-8AAD-7CEB-A4195AF936E7}"/>
              </a:ext>
            </a:extLst>
          </p:cNvPr>
          <p:cNvSpPr/>
          <p:nvPr/>
        </p:nvSpPr>
        <p:spPr>
          <a:xfrm>
            <a:off x="675957" y="1502229"/>
            <a:ext cx="10884672" cy="4767942"/>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1477</TotalTime>
  <Words>530</Words>
  <Application>Microsoft Office PowerPoint</Application>
  <PresentationFormat>Widescreen</PresentationFormat>
  <Paragraphs>45</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Seasonal Agriculture Performance Analysis </vt:lpstr>
      <vt:lpstr>PROBLEM  STATEMENT</vt:lpstr>
      <vt:lpstr>Project Description Seasonal Agriculture Performance Analysis is a data analytics project focused on understanding how agricultural performance varies across different seasons, regions, crops, environmental conditions, farming practices, resource usage, and economic factors. The project involves data loading, data cleaning, exploratory data analysis, statistical analysis, KPI evaluation, visualization, and interpretation of agricultural data. The analysis compares seasonal performance, crop productivity, resource usage, environmental conditions, and economic outcomes to identify meaningful patterns and relationships. The objective is to generate evidence-based insights and data-driven recommendations that can support better seasonal agricultural planning and resource management.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C MOHAN RAAJ</cp:lastModifiedBy>
  <cp:revision>103</cp:revision>
  <dcterms:created xsi:type="dcterms:W3CDTF">2021-07-11T13:13:15Z</dcterms:created>
  <dcterms:modified xsi:type="dcterms:W3CDTF">2026-09-15T18:05:47Z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